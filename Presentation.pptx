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3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668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Family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Neighborhood Poverty Shapes Academic Outcomes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U.S. School Districts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Latonya Smith  |  Syracuse University  |  ITS 686 M001  |  April 23,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3291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12,335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217920" y="4160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school districts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– 2019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Competing Stories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20624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story — family income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42062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94360"/>
            <a:ext cx="4206240" cy="3200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00600" y="621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neighborhood story — poverty rate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60120"/>
            <a:ext cx="4206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Bayesian Analysis Confirms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94360"/>
            <a:ext cx="530352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640080"/>
            <a:ext cx="3291840" cy="1234440"/>
          </a:xfrm>
          <a:prstGeom prst="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0" y="7132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−2.137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0" y="1353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poverty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mean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2011680"/>
            <a:ext cx="3291840" cy="1234440"/>
          </a:xfrm>
          <a:prstGeom prst="rect">
            <a:avLst/>
          </a:prstGeom>
          <a:solidFill>
            <a:srgbClr val="EFF6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0" y="208483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669280" y="27249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income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mean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383280"/>
            <a:ext cx="32918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60720" y="3456432"/>
            <a:ext cx="31089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credible interval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[−2.261, −2.010]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below zero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ambiguity about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Rates Are Not Equal Across District Types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"/>
            <a:ext cx="54864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640080"/>
            <a:ext cx="2926080" cy="11887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6480" y="713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0" y="10789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poverty rates — and the steepest academic decline when poverty does appear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2011680"/>
            <a:ext cx="292608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0" y="2084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26480" y="24505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spread of poverty — some districts are thriving, others are deeply impoverished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3383280"/>
            <a:ext cx="2926080" cy="1188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26480" y="382219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median poverty than suburbs but less variability than rural districts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Shapes How Damaging Poverty 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does not do equal damage everywhere — these non-parallel lines confirm an interaction effect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0"/>
            <a:ext cx="4389120" cy="3931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3891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the Commissioner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5943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6400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Neighborhood-Level Allocation Framework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free/reduced lunch eligibility alone. Weight both individual poverty and neighborhood poverty concentration when distributing funds.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5943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 &amp; Target Rural High-Poverty Districts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districts are 53% of the dataset with the widest poverty spread. Create a formal Rural High-Poverty designation for districts above 25% child poverty.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5943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78892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Community Narrative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3200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rural communities understand that neighborhood conditions create obstacles no individual effort can fully overcome. Investing in communities enables individual effort.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5943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8862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Better Data Infrastructure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42976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ends at 2019. Invest in systems linking student outcomes to census tract conditions annually for real-time resource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poverty is a powerful, independent predictor of academic outcomes. It is one that operates above and beyond family income. The Bayesian posterior mean of −2.137, with a 95% credible interval entirely below zero, leaves no ambiguity: where a child lives shapes their educational trajectory in ways that no amount of individual family effort can fully overcome.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06040" cy="1188720"/>
          </a:xfrm>
          <a:prstGeom prst="rect">
            <a:avLst/>
          </a:prstGeom>
          <a:solidFill>
            <a:srgbClr val="1E3F6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18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as much as income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2606040" cy="1188720"/>
          </a:xfrm>
          <a:prstGeom prst="rect">
            <a:avLst/>
          </a:prstGeom>
          <a:solidFill>
            <a:srgbClr val="1E3F6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3218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how damaging poverty 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2606040" cy="1188720"/>
          </a:xfrm>
          <a:prstGeom prst="rect">
            <a:avLst/>
          </a:prstGeom>
          <a:solidFill>
            <a:srgbClr val="1E3F6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0" y="3218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communities = investment in children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research: post-pandemic data  ·  individual-level records  ·  richer neighborhood characteristics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388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Smith, Latonya</cp:lastModifiedBy>
  <cp:revision>2</cp:revision>
  <dcterms:created xsi:type="dcterms:W3CDTF">2026-04-23T20:19:38Z</dcterms:created>
  <dcterms:modified xsi:type="dcterms:W3CDTF">2026-09-23T05:40:49Z</dcterms:modified>
</cp:coreProperties>
</file>